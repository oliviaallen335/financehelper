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6" r:id="rId4"/>
  </p:sldMasterIdLst>
  <p:notesMasterIdLst>
    <p:notesMasterId r:id="rId9"/>
  </p:notesMasterIdLst>
  <p:handoutMasterIdLst>
    <p:handoutMasterId r:id="rId10"/>
  </p:handoutMasterIdLst>
  <p:sldIdLst>
    <p:sldId id="512" r:id="rId5"/>
    <p:sldId id="521" r:id="rId6"/>
    <p:sldId id="505" r:id="rId7"/>
    <p:sldId id="520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AF215-9C40-DB45-8486-3371AF0F2007}" v="1" dt="2026-04-23T03:09:47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4B7D2BF5-B78A-499C-80D5-72032FA396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AB5B45D-A5F0-4BF1-82AB-DBC254CB00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7F974407-7B0F-4CE6-B345-F3849DB9E7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DAD26DA1-0D42-4190-9BE3-2DF182CA278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1E03328-8195-47FB-B096-0B1BEA071B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F159C16-6B28-418C-B785-C009129F2D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F55F116-B566-449E-8CC9-33DC093380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8FE2F7A-FC51-4620-B09B-649414B690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4896FB10-0C59-490C-9DBA-97253040FB1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0D697B5C-69B9-4D39-A8B0-67514E610FB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ECE0F05D-70CB-469B-B8E2-F8A37DB346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DB91414-6E04-417E-9948-9F93E377C1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A0A73721-3AF7-47CC-B0B2-7356D322CC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E8C7D91A-EFBD-48FF-9F71-7D31BA06E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EB77AE57-2BC7-4A0E-94A9-2E02A8B7C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C64ECD-7197-497E-AF96-14821BE467E6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5D1A4CD6-27C4-47C3-9629-686D09855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E497735F-E5CE-4613-BE01-FD2BC1FE1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7E20DD-774C-44ED-ADBC-032A15431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Programming in C++</a:t>
            </a:r>
          </a:p>
          <a:p>
            <a:pPr algn="ctr" eaLnBrk="1" hangingPunct="1">
              <a:defRPr/>
            </a:pPr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Seventh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267908-BB9B-4B02-BAEF-8EB2DB42A145}"/>
              </a:ext>
            </a:extLst>
          </p:cNvPr>
          <p:cNvCxnSpPr/>
          <p:nvPr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914400" y="4724400"/>
            <a:ext cx="7315200" cy="1371600"/>
          </a:xfrm>
        </p:spPr>
        <p:txBody>
          <a:bodyPr/>
          <a:lstStyle>
            <a:lvl1pPr algn="ctr"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532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8650F4-A19F-4C4C-9F15-721979CF0B2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101481A-628D-4F3E-BE5C-FE7988F118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0BF2C-BFC7-4A8D-920A-5C9F0562BF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313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9A849E-E4CA-46B0-9242-DFD6C4BFE912}"/>
              </a:ext>
            </a:extLst>
          </p:cNvPr>
          <p:cNvSpPr>
            <a:spLocks/>
          </p:cNvSpPr>
          <p:nvPr/>
        </p:nvSpPr>
        <p:spPr bwMode="auto">
          <a:xfrm>
            <a:off x="609600" y="152400"/>
            <a:ext cx="8077200" cy="1143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anchor="ctr"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n-US" altLang="en-US" sz="3600">
                <a:solidFill>
                  <a:schemeClr val="tx1"/>
                </a:solidFill>
                <a:latin typeface="Trebuchet MS" panose="020B0603020202020204" pitchFamily="34" charset="0"/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98A9DD-6629-4650-90E4-5BBE94F31F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905D9B-FA9F-4BBF-8F80-326D72FAB4C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18A8C-6F9A-41DB-8E84-8E0F225750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67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182B27-DB10-4C42-8ACA-A649FEF38AF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FA661B-7C9F-4A10-8403-3CE23598325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9B297-F7F8-4305-89F6-729D694C33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7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A99739B-59C5-48B2-B4E7-A23EF29BEDE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69CBEBC-0629-4EED-A42F-ECE697F799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3B4CF5-3ADA-4D49-B321-D780C76E46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088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A0B83D3-4DB9-4323-BD80-63D4FD0EBA1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C86C2ED-4D59-4C98-9063-D9DEF2F637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55969-3B27-4C02-B2FB-CE1078C8A6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66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92E06CA-1B54-4BB1-BA73-5D3CE89CD93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1008151-5178-4606-8A5F-661440B56D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EFE16-46EB-4219-BDD9-964E9BAD47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29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47800"/>
            <a:ext cx="5111750" cy="4678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5BDC4F-5905-413D-B9E8-409BD9ED9EF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9781E0-BE99-4935-8810-E4094CF66C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95510-1824-4C87-AB04-18F854961D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380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C63219-89AE-4C1B-9CFA-6D235C45424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2153F6-1657-4D61-BCDE-2DC82C73351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F5C64-301C-4975-9A41-9F12C4C152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615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rgbClr val="16489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2FED431-1C9B-43E8-A3FF-450F4490B0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C533F7F-3D48-4E19-BF65-1D2D0ABD14C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7325E-208C-4A96-818F-176003FD85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6356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  <a:prstGeom prst="round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F7293B-38D0-4EF7-A0CD-58D7188D1B1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A4B063-A3CA-4E2D-9607-97D51EBBBB1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648B2-CE7C-4F56-A5DB-B8BA37C715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226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>
            <a:extLst>
              <a:ext uri="{FF2B5EF4-FFF2-40B4-BE49-F238E27FC236}">
                <a16:creationId xmlns:a16="http://schemas.microsoft.com/office/drawing/2014/main" id="{BB85B981-E072-4530-B371-04D21E102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C0BFC5C9-7A32-4120-AB55-6D7BE6027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8077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445EFE8-135A-4DA1-A048-2255C9BD9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D6AE18A-BBB6-4262-8E91-860AC14C2F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9B7107A-3DE0-486F-9937-5C2543E61A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Placeholder 7">
            <a:extLst>
              <a:ext uri="{FF2B5EF4-FFF2-40B4-BE49-F238E27FC236}">
                <a16:creationId xmlns:a16="http://schemas.microsoft.com/office/drawing/2014/main" id="{CDC8A0EC-9AF4-4542-84A1-311E481B93E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38" r:id="rId2"/>
    <p:sldLayoutId id="2147484148" r:id="rId3"/>
    <p:sldLayoutId id="2147484139" r:id="rId4"/>
    <p:sldLayoutId id="2147484140" r:id="rId5"/>
    <p:sldLayoutId id="2147484141" r:id="rId6"/>
    <p:sldLayoutId id="2147484142" r:id="rId7"/>
    <p:sldLayoutId id="2147484143" r:id="rId8"/>
    <p:sldLayoutId id="2147484144" r:id="rId9"/>
    <p:sldLayoutId id="2147484145" r:id="rId10"/>
    <p:sldLayoutId id="214748414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MS PGothic" panose="020B0600070205080204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MS PGothic" panose="020B0600070205080204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MS PGothic" panose="020B0600070205080204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MS PGothic" panose="020B0600070205080204" pitchFamily="34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MS PGothic" panose="020B0600070205080204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MS PGothic" panose="020B0600070205080204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lassroom.github.com/a/oI_Prc_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Content Placeholder 1">
            <a:extLst>
              <a:ext uri="{FF2B5EF4-FFF2-40B4-BE49-F238E27FC236}">
                <a16:creationId xmlns:a16="http://schemas.microsoft.com/office/drawing/2014/main" id="{79B61035-97FF-4062-B550-4D7F62ADF8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6721" y="1561470"/>
            <a:ext cx="8077200" cy="47244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ea typeface="MS PGothic"/>
              </a:rPr>
              <a:t>You have been tasked with creating a PA that has the following features: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Use an </a:t>
            </a:r>
            <a:r>
              <a:rPr lang="en-US" sz="2400" b="1">
                <a:ea typeface="+mn-lt"/>
                <a:cs typeface="+mn-lt"/>
              </a:rPr>
              <a:t>LLM </a:t>
            </a:r>
            <a:r>
              <a:rPr lang="en-US" sz="2400">
                <a:ea typeface="+mn-lt"/>
                <a:cs typeface="+mn-lt"/>
              </a:rPr>
              <a:t>to understand user input and generate responses</a:t>
            </a:r>
            <a:endParaRPr lang="en-US" altLang="en-US" sz="2400">
              <a:ea typeface="MS PGothic"/>
            </a:endParaRP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Apply </a:t>
            </a:r>
            <a:r>
              <a:rPr lang="en-US" sz="2400" b="1">
                <a:ea typeface="+mn-lt"/>
                <a:cs typeface="+mn-lt"/>
              </a:rPr>
              <a:t>RAG </a:t>
            </a:r>
            <a:r>
              <a:rPr lang="en-US" sz="2400">
                <a:ea typeface="+mn-lt"/>
                <a:cs typeface="+mn-lt"/>
              </a:rPr>
              <a:t>to retrieve relevant external data and improve accuracy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Implement </a:t>
            </a:r>
            <a:r>
              <a:rPr lang="en-US" sz="2400" b="1">
                <a:ea typeface="+mn-lt"/>
                <a:cs typeface="+mn-lt"/>
              </a:rPr>
              <a:t>Function Calling </a:t>
            </a:r>
            <a:r>
              <a:rPr lang="en-US" sz="2400">
                <a:ea typeface="+mn-lt"/>
                <a:cs typeface="+mn-lt"/>
              </a:rPr>
              <a:t>to execute specific tasks or interact with APIs</a:t>
            </a:r>
            <a:endParaRPr lang="en-US"/>
          </a:p>
        </p:txBody>
      </p:sp>
      <p:sp>
        <p:nvSpPr>
          <p:cNvPr id="15362" name="Title 2">
            <a:extLst>
              <a:ext uri="{FF2B5EF4-FFF2-40B4-BE49-F238E27FC236}">
                <a16:creationId xmlns:a16="http://schemas.microsoft.com/office/drawing/2014/main" id="{BA347155-FB72-4DBD-B1C1-7E551A5A2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 3</a:t>
            </a:r>
          </a:p>
        </p:txBody>
      </p:sp>
      <p:sp>
        <p:nvSpPr>
          <p:cNvPr id="15363" name="Slide Number Placeholder 4">
            <a:extLst>
              <a:ext uri="{FF2B5EF4-FFF2-40B4-BE49-F238E27FC236}">
                <a16:creationId xmlns:a16="http://schemas.microsoft.com/office/drawing/2014/main" id="{DA4399EC-7A80-49F4-B25F-3C37233C1F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68786D-FDAD-4DF8-A1B6-70AD01932C75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A22CA-8431-08E6-B75D-BFC2A11E8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Content Placeholder 1">
            <a:extLst>
              <a:ext uri="{FF2B5EF4-FFF2-40B4-BE49-F238E27FC236}">
                <a16:creationId xmlns:a16="http://schemas.microsoft.com/office/drawing/2014/main" id="{D1F44444-41E0-EC57-0D1A-1B4FBD6CB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6721" y="1561470"/>
            <a:ext cx="8077200" cy="47244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ea typeface="MS PGothic"/>
              </a:rPr>
              <a:t>You have been tasked with creating a PA that has the following features: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Use an </a:t>
            </a:r>
            <a:r>
              <a:rPr lang="en-US" sz="2400" b="1">
                <a:ea typeface="+mn-lt"/>
                <a:cs typeface="+mn-lt"/>
              </a:rPr>
              <a:t>LLM </a:t>
            </a:r>
            <a:r>
              <a:rPr lang="en-US" sz="2400">
                <a:ea typeface="+mn-lt"/>
                <a:cs typeface="+mn-lt"/>
              </a:rPr>
              <a:t>to understand user input and generate responses</a:t>
            </a:r>
            <a:endParaRPr lang="en-US" altLang="en-US" sz="2400">
              <a:ea typeface="MS PGothic"/>
            </a:endParaRP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Apply </a:t>
            </a:r>
            <a:r>
              <a:rPr lang="en-US" sz="2400" b="1">
                <a:ea typeface="+mn-lt"/>
                <a:cs typeface="+mn-lt"/>
              </a:rPr>
              <a:t>RAG </a:t>
            </a:r>
            <a:r>
              <a:rPr lang="en-US" sz="2400">
                <a:ea typeface="+mn-lt"/>
                <a:cs typeface="+mn-lt"/>
              </a:rPr>
              <a:t>to retrieve relevant external data and improve accuracy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Implement </a:t>
            </a:r>
            <a:r>
              <a:rPr lang="en-US" sz="2400" b="1">
                <a:ea typeface="+mn-lt"/>
                <a:cs typeface="+mn-lt"/>
              </a:rPr>
              <a:t>Function Calling </a:t>
            </a:r>
            <a:r>
              <a:rPr lang="en-US" sz="2400">
                <a:ea typeface="+mn-lt"/>
                <a:cs typeface="+mn-lt"/>
              </a:rPr>
              <a:t>to execute specific tasks or interact with APIs</a:t>
            </a:r>
            <a:endParaRPr lang="en-US"/>
          </a:p>
        </p:txBody>
      </p:sp>
      <p:sp>
        <p:nvSpPr>
          <p:cNvPr id="15362" name="Title 2">
            <a:extLst>
              <a:ext uri="{FF2B5EF4-FFF2-40B4-BE49-F238E27FC236}">
                <a16:creationId xmlns:a16="http://schemas.microsoft.com/office/drawing/2014/main" id="{7A2CDB65-7EFB-237F-1F7B-1AEE9EEA3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 3</a:t>
            </a:r>
          </a:p>
        </p:txBody>
      </p:sp>
      <p:sp>
        <p:nvSpPr>
          <p:cNvPr id="15363" name="Slide Number Placeholder 4">
            <a:extLst>
              <a:ext uri="{FF2B5EF4-FFF2-40B4-BE49-F238E27FC236}">
                <a16:creationId xmlns:a16="http://schemas.microsoft.com/office/drawing/2014/main" id="{C5DDC2E0-6E36-42D0-6B87-AB82EAB2A1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68786D-FDAD-4DF8-A1B6-70AD01932C75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8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5">
            <a:extLst>
              <a:ext uri="{FF2B5EF4-FFF2-40B4-BE49-F238E27FC236}">
                <a16:creationId xmlns:a16="http://schemas.microsoft.com/office/drawing/2014/main" id="{F6260E08-CA04-4BAC-B7B4-2A3795D69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47800"/>
            <a:ext cx="8077200" cy="4724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This PA is </a:t>
            </a:r>
            <a:r>
              <a:rPr lang="en-US" b="1" u="sng">
                <a:solidFill>
                  <a:srgbClr val="000000"/>
                </a:solidFill>
                <a:ea typeface="Calibri"/>
                <a:cs typeface="Calibri"/>
              </a:rPr>
              <a:t>full stack</a:t>
            </a: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. Ensure your PA has:</a:t>
            </a:r>
            <a:endParaRPr lang="en-US">
              <a:cs typeface="Calibri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/>
              <a:buChar char="o"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HTML, CSS, JS frontend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/>
              <a:buChar char="o"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C# backend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/>
              <a:buChar char="o"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MySQL database using Heroku to host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/>
              <a:buChar char="o"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/>
              <a:buChar char="o"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/>
              <a:buChar char="o"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/>
              <a:buChar char="o"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457200" lvl="1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*25 bonus points if site is hosted</a:t>
            </a: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46EE01B4-3968-43C3-8A6D-DE25570F3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/>
              </a:rPr>
              <a:t>PA 3</a:t>
            </a:r>
          </a:p>
        </p:txBody>
      </p:sp>
      <p:sp>
        <p:nvSpPr>
          <p:cNvPr id="16387" name="Slide Number Placeholder 7">
            <a:extLst>
              <a:ext uri="{FF2B5EF4-FFF2-40B4-BE49-F238E27FC236}">
                <a16:creationId xmlns:a16="http://schemas.microsoft.com/office/drawing/2014/main" id="{CED38A46-18E1-4A71-8927-674E7D72AE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D5417E-B5C4-4831-B370-0B05A3E0EA2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16F52-ADFD-D085-617A-E405C5CB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2">
            <a:extLst>
              <a:ext uri="{FF2B5EF4-FFF2-40B4-BE49-F238E27FC236}">
                <a16:creationId xmlns:a16="http://schemas.microsoft.com/office/drawing/2014/main" id="{189F0072-FE2F-4D9A-E93E-393204AFC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Submission Instructions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B3481D28-80D3-A18E-293E-F8C13D6E0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1C3966-5C96-4815-8392-C9A25FFD0F9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1" name="Content Placeholder 1">
            <a:extLst>
              <a:ext uri="{FF2B5EF4-FFF2-40B4-BE49-F238E27FC236}">
                <a16:creationId xmlns:a16="http://schemas.microsoft.com/office/drawing/2014/main" id="{18D0AF5D-7095-ECFB-B354-A20B2F35D2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MS PGothic"/>
              </a:rPr>
              <a:t>Worth 100 points</a:t>
            </a:r>
          </a:p>
          <a:p>
            <a:r>
              <a:rPr lang="en-US" altLang="en-US">
                <a:ea typeface="MS PGothic"/>
              </a:rPr>
              <a:t>Submit link </a:t>
            </a:r>
            <a:r>
              <a:rPr lang="en-US" altLang="en-US" err="1">
                <a:ea typeface="MS PGothic"/>
              </a:rPr>
              <a:t>thr</a:t>
            </a:r>
            <a:r>
              <a:rPr lang="en-US" err="1">
                <a:ea typeface="+mn-lt"/>
                <a:cs typeface="+mn-lt"/>
              </a:rPr>
              <a:t>Repo</a:t>
            </a:r>
            <a:r>
              <a:rPr lang="en-US">
                <a:ea typeface="+mn-lt"/>
                <a:cs typeface="+mn-lt"/>
              </a:rPr>
              <a:t> Link: </a:t>
            </a:r>
            <a:r>
              <a:rPr lang="en-US">
                <a:ea typeface="+mn-lt"/>
                <a:cs typeface="+mn-lt"/>
                <a:hlinkClick r:id="rId2"/>
              </a:rPr>
              <a:t>https://classroom.github.com/a/oI_Prc_P</a:t>
            </a:r>
          </a:p>
          <a:p>
            <a:r>
              <a:rPr lang="en-US" altLang="en-US" err="1">
                <a:ea typeface="MS PGothic"/>
              </a:rPr>
              <a:t>ough</a:t>
            </a:r>
            <a:r>
              <a:rPr lang="en-US" altLang="en-US">
                <a:ea typeface="MS PGothic"/>
              </a:rPr>
              <a:t> Blackboard</a:t>
            </a:r>
            <a:endParaRPr lang="en-US" altLang="en-US"/>
          </a:p>
          <a:p>
            <a:r>
              <a:rPr lang="en-US" altLang="en-US">
                <a:ea typeface="MS PGothic"/>
              </a:rPr>
              <a:t>Due 4/23</a:t>
            </a:r>
            <a:r>
              <a:rPr lang="en-US" altLang="en-US">
                <a:solidFill>
                  <a:schemeClr val="tx1"/>
                </a:solidFill>
                <a:ea typeface="MS PGothic"/>
              </a:rPr>
              <a:t> at 9:30 a.m. </a:t>
            </a:r>
            <a:r>
              <a:rPr lang="en-US" altLang="en-US">
                <a:ea typeface="MS PGothic"/>
              </a:rPr>
              <a:t>(start of class)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91B263-76B2-923D-4AA8-45CD24AB88C2}"/>
              </a:ext>
            </a:extLst>
          </p:cNvPr>
          <p:cNvSpPr txBox="1"/>
          <p:nvPr/>
        </p:nvSpPr>
        <p:spPr>
          <a:xfrm>
            <a:off x="-2753710" y="-66215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11703"/>
      </p:ext>
    </p:extLst>
  </p:cSld>
  <p:clrMapOvr>
    <a:masterClrMapping/>
  </p:clrMapOvr>
</p:sld>
</file>

<file path=ppt/theme/theme1.xml><?xml version="1.0" encoding="utf-8"?>
<a:theme xmlns:a="http://schemas.openxmlformats.org/drawingml/2006/main" name="Zak C++ 7e PPT">
  <a:themeElements>
    <a:clrScheme name="Default Design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Mod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47ED57C4AB884896EE1CBB6A223EF7" ma:contentTypeVersion="7" ma:contentTypeDescription="Create a new document." ma:contentTypeScope="" ma:versionID="0d0befa560711fd0bc6d6d320191d6aa">
  <xsd:schema xmlns:xsd="http://www.w3.org/2001/XMLSchema" xmlns:xs="http://www.w3.org/2001/XMLSchema" xmlns:p="http://schemas.microsoft.com/office/2006/metadata/properties" xmlns:ns2="9538dd3d-c941-4d2f-8c3b-d94bf108a915" targetNamespace="http://schemas.microsoft.com/office/2006/metadata/properties" ma:root="true" ma:fieldsID="8e4b24d25dfa054d12b29b565f5b4020" ns2:_="">
    <xsd:import namespace="9538dd3d-c941-4d2f-8c3b-d94bf108a9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38dd3d-c941-4d2f-8c3b-d94bf108a9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E7BA50-1A7A-40C4-82B4-AD8F2507C300}">
  <ds:schemaRefs>
    <ds:schemaRef ds:uri="9538dd3d-c941-4d2f-8c3b-d94bf108a91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DC216D7-B60A-44D9-B953-0C22AB1797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7E74C5-FC14-464D-874D-48EA09993FE4}">
  <ds:schemaRefs>
    <ds:schemaRef ds:uri="9538dd3d-c941-4d2f-8c3b-d94bf108a9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2a00728e-f0d0-40b4-a4e8-ce433f3fbca7}" enabled="0" method="" siteId="{2a00728e-f0d0-40b4-a4e8-ce433f3fb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Zak C++ 7e PPT</Template>
  <Application>Microsoft Office PowerPoint</Application>
  <PresentationFormat>On-screen Show (4:3)</PresentationFormat>
  <Slides>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Zak C++ 7e PPT</vt:lpstr>
      <vt:lpstr>PA 3</vt:lpstr>
      <vt:lpstr>PA 3</vt:lpstr>
      <vt:lpstr>PA 3</vt:lpstr>
      <vt:lpstr>Submission Instructions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PA1</dc:title>
  <dc:creator/>
  <cp:revision>3</cp:revision>
  <dcterms:created xsi:type="dcterms:W3CDTF">2012-07-02T16:38:45Z</dcterms:created>
  <dcterms:modified xsi:type="dcterms:W3CDTF">2026-04-23T04:12:38Z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0x0101004947ED57C4AB884896EE1CBB6A223EF7</vt:lpwstr>
  </property>
  <property fmtid="{D5CDD505-2E9C-101B-9397-08002B2CF9AE}" pid="3" name="Order">
    <vt:r8>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